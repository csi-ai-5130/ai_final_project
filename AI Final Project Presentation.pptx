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5143500" cx="9144000"/>
  <p:notesSz cx="6858000" cy="9144000"/>
  <p:embeddedFontLst>
    <p:embeddedFont>
      <p:font typeface="Montserrat"/>
      <p:regular r:id="rId27"/>
      <p:bold r:id="rId28"/>
      <p:italic r:id="rId29"/>
      <p:boldItalic r:id="rId30"/>
    </p:embeddedFont>
    <p:embeddedFont>
      <p:font typeface="Lato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1F412B0-C01D-4D82-B2F5-408C06E7C8CF}">
  <a:tblStyle styleId="{11F412B0-C01D-4D82-B2F5-408C06E7C8C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Montserrat-bold.fntdata"/><Relationship Id="rId27" Type="http://schemas.openxmlformats.org/officeDocument/2006/relationships/font" Target="fonts/Montserrat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Montserrat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Lato-regular.fntdata"/><Relationship Id="rId30" Type="http://schemas.openxmlformats.org/officeDocument/2006/relationships/font" Target="fonts/Montserrat-boldItalic.fntdata"/><Relationship Id="rId11" Type="http://schemas.openxmlformats.org/officeDocument/2006/relationships/slide" Target="slides/slide5.xml"/><Relationship Id="rId33" Type="http://schemas.openxmlformats.org/officeDocument/2006/relationships/font" Target="fonts/Lato-italic.fntdata"/><Relationship Id="rId10" Type="http://schemas.openxmlformats.org/officeDocument/2006/relationships/slide" Target="slides/slide4.xml"/><Relationship Id="rId32" Type="http://schemas.openxmlformats.org/officeDocument/2006/relationships/font" Target="fonts/Lato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schemas.openxmlformats.org/officeDocument/2006/relationships/font" Target="fonts/Lato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ce166b1e8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ce166b1e8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ce166b1e8_0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ace166b1e8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ab9b0dc120_2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ab9b0dc120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ab9b0dc120_2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ab9b0dc120_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ab9b0dc120_2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ab9b0dc120_2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ace166b1e8_0_3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ace166b1e8_0_3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ab9b0dc120_2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ab9b0dc120_2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ace166b1e8_0_3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ace166b1e8_0_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ab9b0dc120_2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ab9b0dc120_2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ace166b1e8_0_3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ace166b1e8_0_3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ace166b1e8_0_4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ace166b1e8_0_4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ace166b1e8_0_4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ace166b1e8_0_4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ace166b1e8_0_4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ace166b1e8_0_4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ace166b1e8_0_4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ace166b1e8_0_4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ace166b1e8_0_4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ace166b1e8_0_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ace166b1e8_0_4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ace166b1e8_0_4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ace166b1e8_0_4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ace166b1e8_0_4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ace166b1e8_0_4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ace166b1e8_0_4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ace166b1e8_0_4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ace166b1e8_0_4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1765325" y="419600"/>
            <a:ext cx="6540600" cy="229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Credit Card Approval: Improving Model with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Diverse Machine Learning Techniques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highlight>
                <a:srgbClr val="F5F5F5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ctrTitle"/>
          </p:nvPr>
        </p:nvSpPr>
        <p:spPr>
          <a:xfrm>
            <a:off x="3239950" y="1746050"/>
            <a:ext cx="55074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are Team of 3!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55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55"/>
              <a:t>Raihan Khan, Adnan Vaktapuriya, Jiwan Khabra</a:t>
            </a:r>
            <a:endParaRPr sz="4555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Agenda:</a:t>
            </a:r>
            <a:endParaRPr b="1"/>
          </a:p>
        </p:txBody>
      </p:sp>
      <p:graphicFrame>
        <p:nvGraphicFramePr>
          <p:cNvPr id="146" name="Google Shape;146;p15"/>
          <p:cNvGraphicFramePr/>
          <p:nvPr/>
        </p:nvGraphicFramePr>
        <p:xfrm>
          <a:off x="1297500" y="1667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{11F412B0-C01D-4D82-B2F5-408C06E7C8CF}</a:tableStyleId>
              </a:tblPr>
              <a:tblGrid>
                <a:gridCol w="495175"/>
                <a:gridCol w="25617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1.</a:t>
                      </a:r>
                      <a:endParaRPr>
                        <a:solidFill>
                          <a:schemeClr val="lt1"/>
                        </a:solidFill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Introduction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2.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Problem statement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3.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Related Works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4</a:t>
                      </a:r>
                      <a:r>
                        <a:rPr lang="en">
                          <a:solidFill>
                            <a:schemeClr val="lt1"/>
                          </a:solidFill>
                        </a:rPr>
                        <a:t>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Data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5.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Methodology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6</a:t>
                      </a:r>
                      <a:r>
                        <a:rPr lang="en">
                          <a:solidFill>
                            <a:schemeClr val="lt1"/>
                          </a:solidFill>
                        </a:rPr>
                        <a:t>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Results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7</a:t>
                      </a:r>
                      <a:r>
                        <a:rPr lang="en">
                          <a:solidFill>
                            <a:schemeClr val="lt1"/>
                          </a:solidFill>
                        </a:rPr>
                        <a:t>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Conclusion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Introduction</a:t>
            </a:r>
            <a:endParaRPr/>
          </a:p>
        </p:txBody>
      </p:sp>
      <p:sp>
        <p:nvSpPr>
          <p:cNvPr id="152" name="Google Shape;152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Credit card fraud poses a major risk to financial institutions and customers.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Detecting fraudulent transactions is challenging due to highly imbalanced data (only 0.17% fraud).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Traditional accuracy metrics fail to capture true performance in such settings.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By applying advanced preprocessing, imbalance handling, and model tuning, we aim to create a system that improves reliability and reduces financial risk.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Problem statement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Credit approval &amp; fraud detection are critical in modern financial systems.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Lenders must assess applications accurately to avoid: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Financial loss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Unfair decisions &amp; bias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Goal: Increase reliability &amp; reduce fraud risk by improving model performance to ~97–98%.</a:t>
            </a: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this matters</a:t>
            </a:r>
            <a:endParaRPr/>
          </a:p>
        </p:txBody>
      </p:sp>
      <p:sp>
        <p:nvSpPr>
          <p:cNvPr id="164" name="Google Shape;164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Fraud costs financial institutions billions per year.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Traditional accuracy is misleading due to extreme class imbalance.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Missing a fraud case (false negative) has high cost.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Need a system that: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Detects rare fraud cases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Minimizes false alarms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Works reliably in real-world banking pipelines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Fraud detection is widely studied as an imbalanced classification problem.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Prior research highlights challenges such as extreme imbalance, evolving fraud patterns, and real-time detection needs.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Survey papers (Lucas &amp; Jurgovsky, 2020; Dastidar et al., 2024) compare machine learning methods including: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Logistic Regressio</a:t>
            </a:r>
            <a:r>
              <a:rPr lang="en"/>
              <a:t>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Decision Trees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Random Forests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Gradient Boosting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Neural Networks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Studies show tree-based ensemble methods (especially Random Forests) consistently achieve strong performance on imbalanced credit card datasets.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Research also emphasizes using PR-AUC, ROC-AUC, and F1-score instead of raw accuracy for reliable evaluation.</a:t>
            </a:r>
            <a:endParaRPr/>
          </a:p>
        </p:txBody>
      </p:sp>
      <p:sp>
        <p:nvSpPr>
          <p:cNvPr id="170" name="Google Shape;170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Related Works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</a:t>
            </a:r>
            <a:endParaRPr/>
          </a:p>
        </p:txBody>
      </p:sp>
      <p:sp>
        <p:nvSpPr>
          <p:cNvPr id="176" name="Google Shape;176;p20"/>
          <p:cNvSpPr txBox="1"/>
          <p:nvPr>
            <p:ph idx="1" type="body"/>
          </p:nvPr>
        </p:nvSpPr>
        <p:spPr>
          <a:xfrm>
            <a:off x="1297500" y="1567550"/>
            <a:ext cx="7038900" cy="19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Credit Card Fraud Detection Dataset (Kaggle)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284,807 transaction rows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30 features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PCA-transformed V1–V28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Time, Amount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Fraud cases: 492 (~0.17%)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Highly imbalanced → requires special evaluation &amp; model handling</a:t>
            </a:r>
            <a:endParaRPr/>
          </a:p>
        </p:txBody>
      </p:sp>
      <p:pic>
        <p:nvPicPr>
          <p:cNvPr id="177" name="Google Shape;17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26113" y="266538"/>
            <a:ext cx="2466975" cy="235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2450" y="219675"/>
            <a:ext cx="5829300" cy="442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 </a:t>
            </a:r>
            <a:endParaRPr/>
          </a:p>
        </p:txBody>
      </p:sp>
      <p:sp>
        <p:nvSpPr>
          <p:cNvPr id="188" name="Google Shape;188;p2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improve performance, we built a complete ML pipeline: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Data Preprocessing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Standardization of Amount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Stratified train/test split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No missing values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Imbalance Handling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Class weightin</a:t>
            </a:r>
            <a:r>
              <a:rPr lang="en"/>
              <a:t>g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SMOTE during training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 cont.</a:t>
            </a:r>
            <a:endParaRPr/>
          </a:p>
        </p:txBody>
      </p:sp>
      <p:sp>
        <p:nvSpPr>
          <p:cNvPr id="194" name="Google Shape;194;p23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 startAt="3"/>
            </a:pPr>
            <a:r>
              <a:rPr lang="en"/>
              <a:t>Modeling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Baseline Logistic Regression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Tuned Random Forest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 startAt="3"/>
            </a:pPr>
            <a:r>
              <a:rPr lang="en"/>
              <a:t>Evaluation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PR-AUC, ROC-AUC, F1 (fraud)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Confusion matrix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 startAt="3"/>
            </a:pPr>
            <a:r>
              <a:rPr lang="en"/>
              <a:t>Hyperparameter Tuning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3-fold cross-validation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RandomizedSearchCV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Baseline Model</a:t>
            </a:r>
            <a:endParaRPr/>
          </a:p>
        </p:txBody>
      </p:sp>
      <p:sp>
        <p:nvSpPr>
          <p:cNvPr id="200" name="Google Shape;200;p24"/>
          <p:cNvSpPr txBox="1"/>
          <p:nvPr>
            <p:ph idx="1" type="body"/>
          </p:nvPr>
        </p:nvSpPr>
        <p:spPr>
          <a:xfrm>
            <a:off x="1297500" y="1307850"/>
            <a:ext cx="7038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Logistic Regression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Strong accuracy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Weak recall for fraud class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Motivated use of tree-based methods for non-linear interactions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1" name="Google Shape;20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6700" y="2680000"/>
            <a:ext cx="3134875" cy="228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Why Random Forest?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Handles non-linear patterns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Naturally robust to noise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Works well on imbalanced tabular data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Supports class weighting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Key settings: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n_estimators = 200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max_depth = None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min_samples_split = 5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min_samples_leaf = 1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SMOTE + class_weight = “balanced”</a:t>
            </a:r>
            <a:endParaRPr/>
          </a:p>
        </p:txBody>
      </p:sp>
      <p:sp>
        <p:nvSpPr>
          <p:cNvPr id="207" name="Google Shape;207;p2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 Forest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Hyperparameter</a:t>
            </a:r>
            <a:r>
              <a:rPr lang="en"/>
              <a:t> Tuning</a:t>
            </a:r>
            <a:endParaRPr/>
          </a:p>
        </p:txBody>
      </p:sp>
      <p:sp>
        <p:nvSpPr>
          <p:cNvPr id="213" name="Google Shape;213;p26"/>
          <p:cNvSpPr txBox="1"/>
          <p:nvPr>
            <p:ph idx="1" type="body"/>
          </p:nvPr>
        </p:nvSpPr>
        <p:spPr>
          <a:xfrm>
            <a:off x="1297500" y="1567550"/>
            <a:ext cx="7038900" cy="23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Used GridSearchCV with PR-AUC as scoring metric.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Best pa</a:t>
            </a:r>
            <a:r>
              <a:rPr lang="en"/>
              <a:t>r</a:t>
            </a:r>
            <a:r>
              <a:rPr lang="en"/>
              <a:t>ameters: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200 trees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min samples split = 5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leaf = 1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no max depth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Result: Best validation PR-AUC ≈ 0.844</a:t>
            </a:r>
            <a:endParaRPr/>
          </a:p>
        </p:txBody>
      </p:sp>
      <p:pic>
        <p:nvPicPr>
          <p:cNvPr id="214" name="Google Shape;21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2575" y="3919250"/>
            <a:ext cx="8229532" cy="91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 Set Results</a:t>
            </a:r>
            <a:endParaRPr/>
          </a:p>
        </p:txBody>
      </p:sp>
      <p:sp>
        <p:nvSpPr>
          <p:cNvPr id="220" name="Google Shape;220;p27"/>
          <p:cNvSpPr txBox="1"/>
          <p:nvPr>
            <p:ph idx="1" type="body"/>
          </p:nvPr>
        </p:nvSpPr>
        <p:spPr>
          <a:xfrm>
            <a:off x="1297500" y="1567550"/>
            <a:ext cx="7038900" cy="32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Model Performance:</a:t>
            </a:r>
            <a:endParaRPr/>
          </a:p>
          <a:p>
            <a:pPr indent="-30495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Accuracy: 99.95%</a:t>
            </a: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ROC-AUC: 0.9831</a:t>
            </a: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PR-AUC: 0.8734</a:t>
            </a: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Fraud F1-score: 0.8377</a:t>
            </a: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Fraud Precision: 0.8602</a:t>
            </a: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Fraud Recall: 0.8163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These results confirm the model detects most fraud cases while minimizing false positives.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Confusion Matrix:</a:t>
            </a:r>
            <a:endParaRPr/>
          </a:p>
          <a:p>
            <a:pPr indent="-30495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Only 13 legitimate transactions incorrectly flagged</a:t>
            </a: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81.6% of fraud detected</a:t>
            </a: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Very low false-positive rate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21" name="Google Shape;221;p27"/>
          <p:cNvPicPr preferRelativeResize="0"/>
          <p:nvPr/>
        </p:nvPicPr>
        <p:blipFill rotWithShape="1">
          <a:blip r:embed="rId3">
            <a:alphaModFix/>
          </a:blip>
          <a:srcRect b="23307" l="0" r="0" t="0"/>
          <a:stretch/>
        </p:blipFill>
        <p:spPr>
          <a:xfrm>
            <a:off x="6370875" y="3825150"/>
            <a:ext cx="1425200" cy="57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0975" y="393750"/>
            <a:ext cx="4282850" cy="237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1600" y="423863"/>
            <a:ext cx="6200775" cy="429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2138" y="357175"/>
            <a:ext cx="5419725" cy="442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</a:t>
            </a:r>
            <a:endParaRPr/>
          </a:p>
        </p:txBody>
      </p:sp>
      <p:sp>
        <p:nvSpPr>
          <p:cNvPr id="238" name="Google Shape;238;p3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Dataset is from 2013—may not reflect modern fraud patterns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PCA-transformed features → lower interpretability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SMOTE may introduce synthetic noise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Fraud patterns evolve → model must be retrained continuously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Work</a:t>
            </a:r>
            <a:endParaRPr/>
          </a:p>
        </p:txBody>
      </p:sp>
      <p:sp>
        <p:nvSpPr>
          <p:cNvPr id="244" name="Google Shape;244;p3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Use cost-sensitive learning for real-money risk tuning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Deploy model with monitoring (MLOps)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Try </a:t>
            </a:r>
            <a:r>
              <a:rPr lang="en"/>
              <a:t>Deep learning models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Add explainability tools (SHAP) for analysts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Adjust decision thresholds for business needs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250" name="Google Shape;250;p3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Built full ML pipeline for fraud detection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Tuned Random Forest achieved strong performance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High detection rate, low false positives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Demonstrated that classical ML can be highly effective on imbalanced fraud datasets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